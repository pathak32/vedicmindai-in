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719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502920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88136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1673352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Shape 3"/>
          <p:cNvSpPr/>
          <p:nvPr/>
        </p:nvSpPr>
        <p:spPr>
          <a:xfrm>
            <a:off x="9162288" y="795528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Shape 4"/>
          <p:cNvSpPr/>
          <p:nvPr/>
        </p:nvSpPr>
        <p:spPr>
          <a:xfrm>
            <a:off x="9162288" y="1380744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Shape 5"/>
          <p:cNvSpPr/>
          <p:nvPr/>
        </p:nvSpPr>
        <p:spPr>
          <a:xfrm>
            <a:off x="9162288" y="1965960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Shape 6"/>
          <p:cNvSpPr/>
          <p:nvPr/>
        </p:nvSpPr>
        <p:spPr>
          <a:xfrm>
            <a:off x="9454896" y="502920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Shape 7"/>
          <p:cNvSpPr/>
          <p:nvPr/>
        </p:nvSpPr>
        <p:spPr>
          <a:xfrm>
            <a:off x="9454896" y="1088136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Shape 8"/>
          <p:cNvSpPr/>
          <p:nvPr/>
        </p:nvSpPr>
        <p:spPr>
          <a:xfrm>
            <a:off x="9454896" y="1673352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Shape 9"/>
          <p:cNvSpPr/>
          <p:nvPr/>
        </p:nvSpPr>
        <p:spPr>
          <a:xfrm>
            <a:off x="9747504" y="795528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Shape 10"/>
          <p:cNvSpPr/>
          <p:nvPr/>
        </p:nvSpPr>
        <p:spPr>
          <a:xfrm>
            <a:off x="9747504" y="1380744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Shape 11"/>
          <p:cNvSpPr/>
          <p:nvPr/>
        </p:nvSpPr>
        <p:spPr>
          <a:xfrm>
            <a:off x="9747504" y="1965960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40112" y="502920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40112" y="1088136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40112" y="1673352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32720" y="795528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32720" y="1380744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9" name="Shape 17"/>
          <p:cNvSpPr/>
          <p:nvPr/>
        </p:nvSpPr>
        <p:spPr>
          <a:xfrm>
            <a:off x="10332720" y="1965960"/>
            <a:ext cx="64008" cy="6400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286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VedicMindAI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822960" y="32461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Wisdom. 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Speed.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Vedic Mathematics for every Indian student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38100">
            <a:solidFill>
              <a:srgbClr val="C254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www.VedicMindAI.in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6126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Hitesh Pathak  •  Founder &amp; CEO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anxiety is a quiet, widespread crisis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2695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80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14400" y="3429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students report fear or anxiety toward maths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141" y="22695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880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₹1L+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4617720" y="3429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per family on maths tuition by the time a child finishes school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461" y="22695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880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8321040" y="3429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fall behind grade-level maths before the age of 12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526280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4818888"/>
            <a:ext cx="502920" cy="502920"/>
          </a:xfrm>
          <a:prstGeom prst="ellipse">
            <a:avLst/>
          </a:prstGeom>
          <a:solidFill>
            <a:srgbClr val="C2542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159" y="4949647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736592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“Most students don’t hate maths — they’ve simply never experienced it as fast, intuitive, or fun.”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VedicMindAI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Insight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5,000-year-old system, built for a very modern problem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4160520"/>
          </a:xfrm>
          <a:prstGeom prst="roundRect">
            <a:avLst>
              <a:gd name="adj" fmla="val 2198"/>
            </a:avLst>
          </a:prstGeom>
          <a:solidFill>
            <a:srgbClr val="F4E9D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03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Method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4505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997 × 996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9443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multiplication — about 6 written steps, roughly 90 seconds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3566160"/>
            <a:ext cx="4480560" cy="0"/>
          </a:xfrm>
          <a:prstGeom prst="line">
            <a:avLst/>
          </a:prstGeom>
          <a:noFill/>
          <a:ln w="12700">
            <a:solidFill>
              <a:srgbClr val="D8C7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703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 Method — Anurupyena Sutra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0507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993,012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60120" y="45902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mental steps — under 5 seconds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5102352"/>
            <a:ext cx="4480560" cy="621792"/>
          </a:xfrm>
          <a:prstGeom prst="roundRect">
            <a:avLst>
              <a:gd name="adj" fmla="val 50000"/>
            </a:avLst>
          </a:prstGeom>
          <a:solidFill>
            <a:srgbClr val="C2542D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102352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18× faster — with full understanding, not memorization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502920" cy="50292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239" y="1959559"/>
            <a:ext cx="241402" cy="24140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812280" y="17922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Builds number sense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12280" y="217627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the structure of numbers, not just memorized steps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26480" y="3200400"/>
            <a:ext cx="502920" cy="50292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239" y="3331159"/>
            <a:ext cx="241402" cy="24140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812280" y="31638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compounds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812280" y="354787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wins create momentum toward harder topics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126480" y="4572000"/>
            <a:ext cx="502920" cy="50292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239" y="4702759"/>
            <a:ext cx="241402" cy="24140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12280" y="45354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Exam-aligned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812280" y="491947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useful for JEE, NEET, SSC, UPSC and board exam speed sections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VedicMindAI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VedicMindAI?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C2542D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463040"/>
            <a:ext cx="10177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AI-powered learning platform that teaches students how to calculate faster than a calculator — using the 5,000-year-old system of Vedic Mathematics.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4385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566160"/>
            <a:ext cx="594360" cy="594360"/>
          </a:xfrm>
          <a:prstGeom prst="ellipse">
            <a:avLst/>
          </a:prstGeom>
          <a:solidFill>
            <a:srgbClr val="C2542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372069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Structured Lessons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32004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43859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3566160"/>
            <a:ext cx="594360" cy="594360"/>
          </a:xfrm>
          <a:prstGeom prst="ellipse">
            <a:avLst/>
          </a:prstGeom>
          <a:solidFill>
            <a:srgbClr val="C2542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254" y="37206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(Claude-powered)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38160" y="32004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43859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6760" y="3566160"/>
            <a:ext cx="594360" cy="594360"/>
          </a:xfrm>
          <a:prstGeom prst="ellipse">
            <a:avLst/>
          </a:prstGeom>
          <a:solidFill>
            <a:srgbClr val="C2542D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1294" y="372069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9828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Hindi-first, Bilingual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48463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43859"/>
          </a:solidFill>
          <a:ln/>
        </p:spPr>
      </p:sp>
      <p:sp>
        <p:nvSpPr>
          <p:cNvPr id="18" name="Shape 13"/>
          <p:cNvSpPr/>
          <p:nvPr/>
        </p:nvSpPr>
        <p:spPr>
          <a:xfrm>
            <a:off x="868680" y="5212080"/>
            <a:ext cx="594360" cy="594360"/>
          </a:xfrm>
          <a:prstGeom prst="ellipse">
            <a:avLst/>
          </a:prstGeom>
          <a:solidFill>
            <a:srgbClr val="C2542D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214" y="5366614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00200" y="4846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Quiz &amp; Leaderboard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389120" y="48463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43859"/>
          </a:solidFill>
          <a:ln/>
        </p:spPr>
      </p:sp>
      <p:sp>
        <p:nvSpPr>
          <p:cNvPr id="22" name="Shape 16"/>
          <p:cNvSpPr/>
          <p:nvPr/>
        </p:nvSpPr>
        <p:spPr>
          <a:xfrm>
            <a:off x="4617720" y="5212080"/>
            <a:ext cx="594360" cy="594360"/>
          </a:xfrm>
          <a:prstGeom prst="ellipse">
            <a:avLst/>
          </a:prstGeom>
          <a:solidFill>
            <a:srgbClr val="C2542D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254" y="5366614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49240" y="4846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JEE / NEET / SSC / UPSC / Boards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138160" y="48463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43859"/>
          </a:solidFill>
          <a:ln/>
        </p:spPr>
      </p:sp>
      <p:sp>
        <p:nvSpPr>
          <p:cNvPr id="26" name="Shape 19"/>
          <p:cNvSpPr/>
          <p:nvPr/>
        </p:nvSpPr>
        <p:spPr>
          <a:xfrm>
            <a:off x="8366760" y="5212080"/>
            <a:ext cx="594360" cy="594360"/>
          </a:xfrm>
          <a:prstGeom prst="ellipse">
            <a:avLst/>
          </a:prstGeom>
          <a:solidFill>
            <a:srgbClr val="C2542D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1294" y="5366614"/>
            <a:ext cx="285293" cy="28529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098280" y="4846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+ Web Platform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VedicMindAI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confusion to confidence in three simple steps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41605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CF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063240" y="2103120"/>
            <a:ext cx="640080" cy="64008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661" y="22695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the Sutra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4290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Bite-sized video lessons teach one Vedic Maths trick at a time, in Hindi or English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78224" y="3790188"/>
            <a:ext cx="329184" cy="329184"/>
          </a:xfrm>
          <a:prstGeom prst="ellipse">
            <a:avLst/>
          </a:prstGeom>
          <a:solidFill>
            <a:srgbClr val="C2542D"/>
          </a:solidFill>
          <a:ln/>
        </p:spPr>
      </p:sp>
      <p:sp>
        <p:nvSpPr>
          <p:cNvPr id="11" name="Shape 8"/>
          <p:cNvSpPr/>
          <p:nvPr/>
        </p:nvSpPr>
        <p:spPr>
          <a:xfrm>
            <a:off x="4343400" y="1874520"/>
            <a:ext cx="3383280" cy="41605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1772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CF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6766560" y="2103120"/>
            <a:ext cx="640080" cy="64008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81" y="226954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&amp; Play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17720" y="34290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quizzes, speed challenges and a live leaderboard turn practice into a habit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781544" y="3790188"/>
            <a:ext cx="329184" cy="329184"/>
          </a:xfrm>
          <a:prstGeom prst="ellipse">
            <a:avLst/>
          </a:prstGeom>
          <a:solidFill>
            <a:srgbClr val="C2542D"/>
          </a:solidFill>
          <a:ln/>
        </p:spPr>
      </p:sp>
      <p:sp>
        <p:nvSpPr>
          <p:cNvPr id="18" name="Shape 14"/>
          <p:cNvSpPr/>
          <p:nvPr/>
        </p:nvSpPr>
        <p:spPr>
          <a:xfrm>
            <a:off x="8046720" y="1874520"/>
            <a:ext cx="3383280" cy="41605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32104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CF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Shape 16"/>
          <p:cNvSpPr/>
          <p:nvPr/>
        </p:nvSpPr>
        <p:spPr>
          <a:xfrm>
            <a:off x="10469880" y="2103120"/>
            <a:ext cx="640080" cy="64008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6301" y="2269541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104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AI Tutor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321040" y="34290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on a step? The built-in AI Tutor explains it instantly, in the student’s own language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VedicMindAI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student needs in one place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BF6E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21543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791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Vedic Maths Lessons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306324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 multiplication tricks to algebra &amp; advanced sutras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34256" y="17830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BF6EF"/>
          </a:solidFill>
          <a:ln/>
        </p:spPr>
      </p:sp>
      <p:sp>
        <p:nvSpPr>
          <p:cNvPr id="10" name="Shape 7"/>
          <p:cNvSpPr/>
          <p:nvPr/>
        </p:nvSpPr>
        <p:spPr>
          <a:xfrm>
            <a:off x="4562856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502" y="21543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2856" y="26791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Quiz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62856" y="306324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habit-forming practice with instant feedback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28432" y="17830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BF6EF"/>
          </a:solidFill>
          <a:ln/>
        </p:spPr>
      </p:sp>
      <p:sp>
        <p:nvSpPr>
          <p:cNvPr id="15" name="Shape 11"/>
          <p:cNvSpPr/>
          <p:nvPr/>
        </p:nvSpPr>
        <p:spPr>
          <a:xfrm>
            <a:off x="8257032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9678" y="21543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57032" y="26791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Leaderboard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57032" y="306324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competition that motivates consistent practice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BF6EF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160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326" y="430316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828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Exam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68680" y="521208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assessment to track real progress over time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34256" y="39319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BF6EF"/>
          </a:solidFill>
          <a:ln/>
        </p:spPr>
      </p:sp>
      <p:sp>
        <p:nvSpPr>
          <p:cNvPr id="25" name="Shape 19"/>
          <p:cNvSpPr/>
          <p:nvPr/>
        </p:nvSpPr>
        <p:spPr>
          <a:xfrm>
            <a:off x="4562856" y="4160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5502" y="430316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62856" y="4828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Olympiad &amp; Speed Challenges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62856" y="521208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formats that make mastery feel like a sport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28432" y="39319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BF6EF"/>
          </a:solidFill>
          <a:ln/>
        </p:spPr>
      </p:sp>
      <p:sp>
        <p:nvSpPr>
          <p:cNvPr id="30" name="Shape 23"/>
          <p:cNvSpPr/>
          <p:nvPr/>
        </p:nvSpPr>
        <p:spPr>
          <a:xfrm>
            <a:off x="8257032" y="4160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9678" y="430316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57032" y="4828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Tutor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57032" y="521208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doubt-solving, available 24/7, in Hindi or English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VedicMindAI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Layer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more than a video library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24385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57400"/>
            <a:ext cx="685800" cy="685800"/>
          </a:xfrm>
          <a:prstGeom prst="ellipse">
            <a:avLst/>
          </a:prstGeom>
          <a:solidFill>
            <a:srgbClr val="C2542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" y="22357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48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Tutor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27889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Anthropic’s Claude, integrated directly into the app. Auto-detects Hindi or English and explains any concept the moment a student gets stuck — no waiting for a tutor’s reply.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60120" y="4251960"/>
            <a:ext cx="4480560" cy="0"/>
          </a:xfrm>
          <a:prstGeom prst="line">
            <a:avLst/>
          </a:prstGeom>
          <a:noFill/>
          <a:ln w="12700">
            <a:solidFill>
              <a:srgbClr val="3A4D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0120" y="4480560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8"/>
          <p:cNvSpPr/>
          <p:nvPr/>
        </p:nvSpPr>
        <p:spPr>
          <a:xfrm>
            <a:off x="1207008" y="43616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24/7, no scheduling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60120" y="4892040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0"/>
          <p:cNvSpPr/>
          <p:nvPr/>
        </p:nvSpPr>
        <p:spPr>
          <a:xfrm>
            <a:off x="1207008" y="47731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by default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60120" y="5303520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2"/>
          <p:cNvSpPr/>
          <p:nvPr/>
        </p:nvSpPr>
        <p:spPr>
          <a:xfrm>
            <a:off x="1207008" y="5184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judgment-free explanations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80760" y="1783080"/>
            <a:ext cx="5468112" cy="4206240"/>
          </a:xfrm>
          <a:prstGeom prst="roundRect">
            <a:avLst>
              <a:gd name="adj" fmla="val 2174"/>
            </a:avLst>
          </a:prstGeom>
          <a:solidFill>
            <a:srgbClr val="243859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0" y="2057400"/>
            <a:ext cx="685800" cy="6858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108" y="223570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2376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Quiz Engine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6400800" y="27889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Quiz and Weekly Exams are generated from a growing question bank, blended with fresh AI-generated questions — reviewed and approved by the team before going live. Students never see the same exam twice.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400800" y="4343400"/>
            <a:ext cx="4846320" cy="0"/>
          </a:xfrm>
          <a:prstGeom prst="line">
            <a:avLst/>
          </a:prstGeom>
          <a:noFill/>
          <a:ln w="12700">
            <a:solidFill>
              <a:srgbClr val="3A4D7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00800" y="4572000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3" name="Text 19"/>
          <p:cNvSpPr/>
          <p:nvPr/>
        </p:nvSpPr>
        <p:spPr>
          <a:xfrm>
            <a:off x="6647688" y="4453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Human-approved before publishing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400800" y="4983480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5" name="Text 21"/>
          <p:cNvSpPr/>
          <p:nvPr/>
        </p:nvSpPr>
        <p:spPr>
          <a:xfrm>
            <a:off x="6647688" y="4864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Difficulty-balanced automatically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00800" y="5394960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7" name="Text 23"/>
          <p:cNvSpPr/>
          <p:nvPr/>
        </p:nvSpPr>
        <p:spPr>
          <a:xfrm>
            <a:off x="6647688" y="5276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thousands of students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VedicMindAI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It’s For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full spectrum of Indian learners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194560"/>
            <a:ext cx="731520" cy="73152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535" y="23847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6–12, preparing for boards, JEE, NEET, SSC, or UPSC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82880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7972" y="2194560"/>
            <a:ext cx="731520" cy="73152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167" y="238475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39312" y="37033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an affordable, effective alternative to costly tuition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81344" y="182880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18604" y="2194560"/>
            <a:ext cx="731520" cy="73152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8799" y="238475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9944" y="37033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/ Tier-3 institutions seeking a ready-made maths enrichment program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51976" y="182880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89236" y="2194560"/>
            <a:ext cx="731520" cy="73152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9431" y="238475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34856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NRI Families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180576" y="370332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children connected to Indian heritage and mental-maths skills abroad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VedicMindAI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growing market with India at the center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4E9D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9339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$12.4B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EdTech market size, growing at 8.5% CAGR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18288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4E9DC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199339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34840" y="2697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— the leading Play Store download market for EdTech apps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1828800"/>
            <a:ext cx="3776472" cy="1828800"/>
          </a:xfrm>
          <a:prstGeom prst="roundRect">
            <a:avLst>
              <a:gd name="adj" fmla="val 4000"/>
            </a:avLst>
          </a:prstGeom>
          <a:solidFill>
            <a:srgbClr val="F4E9DC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19933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250M+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001000" y="2697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School-going students across India — the addressable base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Vedic Maths is an underserved niche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4498848"/>
            <a:ext cx="128016" cy="128016"/>
          </a:xfrm>
          <a:prstGeom prst="ellipse">
            <a:avLst/>
          </a:prstGeom>
          <a:solidFill>
            <a:srgbClr val="C254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3891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EdTech apps focus on syllabus content, not calculation speed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001768"/>
            <a:ext cx="128016" cy="128016"/>
          </a:xfrm>
          <a:prstGeom prst="ellipse">
            <a:avLst/>
          </a:prstGeom>
          <a:solidFill>
            <a:srgbClr val="C2542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892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 Maths is widely respected but rarely taught with modern, app-first delivery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504688"/>
            <a:ext cx="128016" cy="128016"/>
          </a:xfrm>
          <a:prstGeom prst="ellipse">
            <a:avLst/>
          </a:prstGeom>
          <a:solidFill>
            <a:srgbClr val="C2542D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3949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cultural resonance gives an organic, word-of-mouth growth advantage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VedicMindAI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 So Far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ground up, end to end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24385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30352" cy="530352"/>
          </a:xfrm>
          <a:prstGeom prst="ellipse">
            <a:avLst/>
          </a:prstGeom>
          <a:solidFill>
            <a:srgbClr val="C2542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72" y="2149572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243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Built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9900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 app live at VedicMindAI.in with 40 lessons, quizzes, leaderboard &amp; AI Tutor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34256" y="17830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243859"/>
          </a:solidFill>
          <a:ln/>
        </p:spPr>
      </p:sp>
      <p:sp>
        <p:nvSpPr>
          <p:cNvPr id="10" name="Shape 7"/>
          <p:cNvSpPr/>
          <p:nvPr/>
        </p:nvSpPr>
        <p:spPr>
          <a:xfrm>
            <a:off x="4562856" y="2011680"/>
            <a:ext cx="530352" cy="530352"/>
          </a:xfrm>
          <a:prstGeom prst="ellipse">
            <a:avLst/>
          </a:prstGeom>
          <a:solidFill>
            <a:srgbClr val="C2542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748" y="214957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2856" y="26243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Trademark Filed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62856" y="29900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VedicMindAI™ brand secured (Classes 9, 41, 42) across the platform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28432" y="17830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243859"/>
          </a:solidFill>
          <a:ln/>
        </p:spPr>
      </p:sp>
      <p:sp>
        <p:nvSpPr>
          <p:cNvPr id="15" name="Shape 11"/>
          <p:cNvSpPr/>
          <p:nvPr/>
        </p:nvSpPr>
        <p:spPr>
          <a:xfrm>
            <a:off x="8257032" y="2011680"/>
            <a:ext cx="530352" cy="530352"/>
          </a:xfrm>
          <a:prstGeom prst="ellipse">
            <a:avLst/>
          </a:prstGeom>
          <a:solidFill>
            <a:srgbClr val="C2542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924" y="2149572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57032" y="26243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App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57032" y="29900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 in closed testing on Google Play, ahead of production launch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813048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243859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041648"/>
            <a:ext cx="530352" cy="530352"/>
          </a:xfrm>
          <a:prstGeom prst="ellipse">
            <a:avLst/>
          </a:prstGeom>
          <a:solidFill>
            <a:srgbClr val="C2542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572" y="4179540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65429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Live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68680" y="502005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integration tested with real transactions — pricing flow confirmed working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34256" y="3813048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243859"/>
          </a:solidFill>
          <a:ln/>
        </p:spPr>
      </p:sp>
      <p:sp>
        <p:nvSpPr>
          <p:cNvPr id="25" name="Shape 19"/>
          <p:cNvSpPr/>
          <p:nvPr/>
        </p:nvSpPr>
        <p:spPr>
          <a:xfrm>
            <a:off x="4562856" y="4041648"/>
            <a:ext cx="530352" cy="530352"/>
          </a:xfrm>
          <a:prstGeom prst="ellipse">
            <a:avLst/>
          </a:prstGeom>
          <a:solidFill>
            <a:srgbClr val="C2542D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748" y="4179540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62856" y="465429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Hindi-First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62856" y="502005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Hindi localization shipped, prioritizing Tier-2 / Tier-3 reach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28432" y="3813048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243859"/>
          </a:solidFill>
          <a:ln/>
        </p:spPr>
      </p:sp>
      <p:sp>
        <p:nvSpPr>
          <p:cNvPr id="30" name="Shape 23"/>
          <p:cNvSpPr/>
          <p:nvPr/>
        </p:nvSpPr>
        <p:spPr>
          <a:xfrm>
            <a:off x="8257032" y="4041648"/>
            <a:ext cx="530352" cy="530352"/>
          </a:xfrm>
          <a:prstGeom prst="ellipse">
            <a:avLst/>
          </a:prstGeom>
          <a:solidFill>
            <a:srgbClr val="C2542D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4924" y="4179540"/>
            <a:ext cx="254569" cy="2545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57032" y="465429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Engine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57032" y="502005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video production pipeline generating daily lesson &amp; quiz content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VedicMindAI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Content Engine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AI-assisted video production — built for scale and reach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2976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Cast Students Recognize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606040"/>
            <a:ext cx="502920" cy="50292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" y="273679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5694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Bhavika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student-teacher, leads core lesson tricks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" y="36511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4838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Hitansh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5448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Energetic peer, drives challenges &amp; speed formats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" y="456559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3982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Dadi Ji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554480" y="4709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grandmother figure, delivers the memorable closing line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914400" y="5394960"/>
            <a:ext cx="3749040" cy="0"/>
          </a:xfrm>
          <a:prstGeom prst="line">
            <a:avLst/>
          </a:prstGeom>
          <a:noFill/>
          <a:ln w="12700">
            <a:solidFill>
              <a:srgbClr val="E5D7C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14400" y="551383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recurring characters build recognition and trust across every video.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166360" y="1828800"/>
            <a:ext cx="638251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5440680" y="20116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Script to Screen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440680" y="2606040"/>
            <a:ext cx="1298448" cy="685800"/>
          </a:xfrm>
          <a:prstGeom prst="roundRect">
            <a:avLst>
              <a:gd name="adj" fmla="val 13333"/>
            </a:avLst>
          </a:prstGeom>
          <a:solidFill>
            <a:srgbClr val="F4E9DC"/>
          </a:solidFill>
          <a:ln/>
        </p:spPr>
      </p:sp>
      <p:sp>
        <p:nvSpPr>
          <p:cNvPr id="23" name="Text 18"/>
          <p:cNvSpPr/>
          <p:nvPr/>
        </p:nvSpPr>
        <p:spPr>
          <a:xfrm>
            <a:off x="5440680" y="260604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766560" y="2871216"/>
            <a:ext cx="128016" cy="128016"/>
          </a:xfrm>
          <a:prstGeom prst="ellipse">
            <a:avLst/>
          </a:prstGeom>
          <a:solidFill>
            <a:srgbClr val="C2542D"/>
          </a:solidFill>
          <a:ln/>
        </p:spPr>
      </p:sp>
      <p:sp>
        <p:nvSpPr>
          <p:cNvPr id="25" name="Shape 20"/>
          <p:cNvSpPr/>
          <p:nvPr/>
        </p:nvSpPr>
        <p:spPr>
          <a:xfrm>
            <a:off x="6922008" y="2606040"/>
            <a:ext cx="1298448" cy="685800"/>
          </a:xfrm>
          <a:prstGeom prst="roundRect">
            <a:avLst>
              <a:gd name="adj" fmla="val 13333"/>
            </a:avLst>
          </a:prstGeom>
          <a:solidFill>
            <a:srgbClr val="F4E9DC"/>
          </a:solidFill>
          <a:ln/>
        </p:spPr>
      </p:sp>
      <p:sp>
        <p:nvSpPr>
          <p:cNvPr id="26" name="Text 21"/>
          <p:cNvSpPr/>
          <p:nvPr/>
        </p:nvSpPr>
        <p:spPr>
          <a:xfrm>
            <a:off x="6922008" y="260604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8247888" y="2871216"/>
            <a:ext cx="128016" cy="128016"/>
          </a:xfrm>
          <a:prstGeom prst="ellipse">
            <a:avLst/>
          </a:prstGeom>
          <a:solidFill>
            <a:srgbClr val="C2542D"/>
          </a:solidFill>
          <a:ln/>
        </p:spPr>
      </p:sp>
      <p:sp>
        <p:nvSpPr>
          <p:cNvPr id="28" name="Shape 23"/>
          <p:cNvSpPr/>
          <p:nvPr/>
        </p:nvSpPr>
        <p:spPr>
          <a:xfrm>
            <a:off x="8403336" y="2606040"/>
            <a:ext cx="1298448" cy="685800"/>
          </a:xfrm>
          <a:prstGeom prst="roundRect">
            <a:avLst>
              <a:gd name="adj" fmla="val 13333"/>
            </a:avLst>
          </a:prstGeom>
          <a:solidFill>
            <a:srgbClr val="F4E9DC"/>
          </a:solidFill>
          <a:ln/>
        </p:spPr>
      </p:sp>
      <p:sp>
        <p:nvSpPr>
          <p:cNvPr id="29" name="Text 24"/>
          <p:cNvSpPr/>
          <p:nvPr/>
        </p:nvSpPr>
        <p:spPr>
          <a:xfrm>
            <a:off x="8403336" y="260604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Captions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9729216" y="2871216"/>
            <a:ext cx="128016" cy="128016"/>
          </a:xfrm>
          <a:prstGeom prst="ellipse">
            <a:avLst/>
          </a:prstGeom>
          <a:solidFill>
            <a:srgbClr val="C2542D"/>
          </a:solidFill>
          <a:ln/>
        </p:spPr>
      </p:sp>
      <p:sp>
        <p:nvSpPr>
          <p:cNvPr id="31" name="Shape 26"/>
          <p:cNvSpPr/>
          <p:nvPr/>
        </p:nvSpPr>
        <p:spPr>
          <a:xfrm>
            <a:off x="9884664" y="2606040"/>
            <a:ext cx="1298448" cy="685800"/>
          </a:xfrm>
          <a:prstGeom prst="roundRect">
            <a:avLst>
              <a:gd name="adj" fmla="val 13333"/>
            </a:avLst>
          </a:prstGeom>
          <a:solidFill>
            <a:srgbClr val="F4E9DC"/>
          </a:solidFill>
          <a:ln/>
        </p:spPr>
      </p:sp>
      <p:sp>
        <p:nvSpPr>
          <p:cNvPr id="32" name="Text 27"/>
          <p:cNvSpPr/>
          <p:nvPr/>
        </p:nvSpPr>
        <p:spPr>
          <a:xfrm>
            <a:off x="9884664" y="260604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166360" y="3886200"/>
            <a:ext cx="6382512" cy="2103120"/>
          </a:xfrm>
          <a:prstGeom prst="roundRect">
            <a:avLst>
              <a:gd name="adj" fmla="val 4348"/>
            </a:avLst>
          </a:prstGeom>
          <a:solidFill>
            <a:srgbClr val="C2542D"/>
          </a:solidFill>
          <a:ln/>
        </p:spPr>
      </p:sp>
      <p:sp>
        <p:nvSpPr>
          <p:cNvPr id="34" name="Shape 29"/>
          <p:cNvSpPr/>
          <p:nvPr/>
        </p:nvSpPr>
        <p:spPr>
          <a:xfrm>
            <a:off x="5440680" y="41148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326" y="4257446"/>
            <a:ext cx="263347" cy="263347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126480" y="41879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Multi-Platform Reach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5440680" y="470916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BE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lesson and quiz content published daily across Instagram, YouTube Shorts and Facebook — each short clip designed to send students straight back to the app.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VedicMindAI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accessible pricing — built to scale across India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BF6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core lessons, daily quiz &amp; leaderboard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18288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BF6EF"/>
          </a:solidFill>
          <a:ln/>
        </p:spPr>
      </p:sp>
      <p:sp>
        <p:nvSpPr>
          <p:cNvPr id="9" name="Text 7"/>
          <p:cNvSpPr/>
          <p:nvPr/>
        </p:nvSpPr>
        <p:spPr>
          <a:xfrm>
            <a:off x="3593592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93592" y="2468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₹299/mo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93592" y="31089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lesson library, weekly exams &amp; progress tracking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18288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C2542D"/>
          </a:solidFill>
          <a:ln/>
          <a:effectLst>
            <a:outerShdw blurRad="127000" dist="508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4224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64224" y="2468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₹599/mo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64224" y="31089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E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AI Tutor access, Olympiad &amp; advanced challenges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51976" y="18288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BF6EF"/>
          </a:solidFill>
          <a:ln/>
        </p:spPr>
      </p:sp>
      <p:sp>
        <p:nvSpPr>
          <p:cNvPr id="17" name="Text 15"/>
          <p:cNvSpPr/>
          <p:nvPr/>
        </p:nvSpPr>
        <p:spPr>
          <a:xfrm>
            <a:off x="9134856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34856" y="2468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₹899/mo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34856" y="31089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features shared across multiple children in one home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02920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F4E9DC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52395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405933"/>
            <a:ext cx="307238" cy="30723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737360" y="5285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for Schools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737360" y="5623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licensing for Tier-2/Tier-3 schools, with a demo login flow already built for easy onboarding.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VedicMindAI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908792" cy="1508760"/>
          </a:xfrm>
          <a:prstGeom prst="roundRect">
            <a:avLst>
              <a:gd name="adj" fmla="val 6061"/>
            </a:avLst>
          </a:prstGeom>
          <a:solidFill>
            <a:srgbClr val="243859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417320"/>
            <a:ext cx="8961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make every Indian student fearless with numbers — by pairing a 5,000-year-old system of thinking with the speed and personalization of modern AI.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195560" y="1874520"/>
            <a:ext cx="868680" cy="868680"/>
          </a:xfrm>
          <a:prstGeom prst="ellipse">
            <a:avLst/>
          </a:prstGeom>
          <a:solidFill>
            <a:srgbClr val="C2542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1417" y="210037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46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90-Day Roadmap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3803904"/>
            <a:ext cx="128016" cy="128016"/>
          </a:xfrm>
          <a:prstGeom prst="ellipse">
            <a:avLst/>
          </a:prstGeom>
          <a:solidFill>
            <a:srgbClr val="C2542D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69417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Hindi-first growth across Tier-2 / Tier-3 cities and NRI families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4306824"/>
            <a:ext cx="128016" cy="128016"/>
          </a:xfrm>
          <a:prstGeom prst="ellipse">
            <a:avLst/>
          </a:prstGeom>
          <a:solidFill>
            <a:srgbClr val="C2542D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419709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with established Vedic Maths educators and institutions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4809744"/>
            <a:ext cx="128016" cy="128016"/>
          </a:xfrm>
          <a:prstGeom prst="ellipse">
            <a:avLst/>
          </a:prstGeom>
          <a:solidFill>
            <a:srgbClr val="C2542D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70001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School-level B2B rollout with bulk licensing and dedicated onboarding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5312664"/>
            <a:ext cx="128016" cy="128016"/>
          </a:xfrm>
          <a:prstGeom prst="ellipse">
            <a:avLst/>
          </a:prstGeom>
          <a:solidFill>
            <a:srgbClr val="C2542D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2029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organic content across Instagram, YouTube and Facebook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VedicMindAI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25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Part of the Mission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BE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child deserves to feel confident with numbers. Help us spread the word.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880360"/>
            <a:ext cx="594360" cy="59436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14" y="30348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611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the App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97280" y="4069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the 40 lessons &amp; AI Tutor firsthand at VedicMindAI.in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26280" y="260604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800600" y="2880360"/>
            <a:ext cx="594360" cy="59436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134" y="30348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3611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With Your Network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800600" y="4069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Educators, parents and schools who could benefit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260604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503920" y="2880360"/>
            <a:ext cx="594360" cy="594360"/>
          </a:xfrm>
          <a:prstGeom prst="ellipse">
            <a:avLst/>
          </a:prstGeom>
          <a:solidFill>
            <a:srgbClr val="F4E9D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8454" y="30348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611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a Conversation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503920" y="4069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Partnerships, pilots, or feedback — we want to hear from you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2960" y="5349240"/>
            <a:ext cx="10543032" cy="0"/>
          </a:xfrm>
          <a:prstGeom prst="line">
            <a:avLst/>
          </a:prstGeom>
          <a:noFill/>
          <a:ln w="12700">
            <a:solidFill>
              <a:srgbClr val="E08C6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22960" y="5532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www.VedicMindAI.in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BE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Hitesh Pathak  •  Founder &amp; CEO  •  support@vedicmindai.in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1117</Words>
  <Application>Microsoft Office PowerPoint</Application>
  <PresentationFormat>Widescreen</PresentationFormat>
  <Paragraphs>198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VedicMindAI — Ancient Wisdom, Modern Speed</dc:title>
  <dc:subject>PptxGenJS Presentation</dc:subject>
  <dc:creator>VedicMindAI</dc:creator>
  <cp:lastModifiedBy>Hitesh Pathak</cp:lastModifiedBy>
  <cp:revision>2</cp:revision>
  <dcterms:created xsi:type="dcterms:W3CDTF">2026-06-18T14:16:52Z</dcterms:created>
  <dcterms:modified xsi:type="dcterms:W3CDTF">2026-06-18T14:24:18Z</dcterms:modified>
</cp:coreProperties>
</file>